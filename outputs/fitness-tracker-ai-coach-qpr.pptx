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73a80c5c3b49b3" /><Relationship Type="http://schemas.openxmlformats.org/officeDocument/2006/relationships/extended-properties" Target="/docProps/app.xml" Id="R0da4b93fc6b94fa2" /><Relationship Type="http://schemas.openxmlformats.org/officeDocument/2006/relationships/officeDocument" Target="/ppt/presentation.xml" Id="Rbffaa63e44bd4a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0465ac4bb94b1d"/>
  </p:sldMasterIdLst>
  <p:notesMasterIdLst>
    <p:notesMasterId xmlns:r="http://schemas.openxmlformats.org/officeDocument/2006/relationships" r:id="R6a19968f93414ab5"/>
  </p:notesMasterIdLst>
  <p:sldIdLst>
    <p:sldId xmlns:r="http://schemas.openxmlformats.org/officeDocument/2006/relationships" id="256" r:id="R656fba5b4b3f48e9"/>
    <p:sldId xmlns:r="http://schemas.openxmlformats.org/officeDocument/2006/relationships" id="257" r:id="Rf7badac11c684a01"/>
    <p:sldId xmlns:r="http://schemas.openxmlformats.org/officeDocument/2006/relationships" id="258" r:id="Rb76a5824e820487e"/>
    <p:sldId xmlns:r="http://schemas.openxmlformats.org/officeDocument/2006/relationships" id="259" r:id="R9f6ea2e6e3b443c8"/>
    <p:sldId xmlns:r="http://schemas.openxmlformats.org/officeDocument/2006/relationships" id="260" r:id="R7d698e4cfc2d4ee2"/>
    <p:sldId xmlns:r="http://schemas.openxmlformats.org/officeDocument/2006/relationships" id="261" r:id="R1b651a630a634626"/>
    <p:sldId xmlns:r="http://schemas.openxmlformats.org/officeDocument/2006/relationships" id="262" r:id="Re50514ddc11d4a04"/>
    <p:sldId xmlns:r="http://schemas.openxmlformats.org/officeDocument/2006/relationships" id="263" r:id="Rcafec3eeb1a84d29"/>
    <p:sldId xmlns:r="http://schemas.openxmlformats.org/officeDocument/2006/relationships" id="264" r:id="Rbf4e1e41a0194a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62651113a34dea" /><Relationship Type="http://schemas.openxmlformats.org/officeDocument/2006/relationships/slideMaster" Target="/ppt/slideMasters/slideMaster1.xml" Id="R060465ac4bb94b1d" /><Relationship Type="http://schemas.openxmlformats.org/officeDocument/2006/relationships/notesMaster" Target="/ppt/notesMasters/notesMaster1.xml" Id="R6a19968f93414ab5" /><Relationship Type="http://schemas.openxmlformats.org/officeDocument/2006/relationships/presProps" Target="/ppt/presProps.xml" Id="R3dfc78f37d0a4195" /><Relationship Type="http://schemas.openxmlformats.org/officeDocument/2006/relationships/tableStyles" Target="/ppt/tableStyles.xml" Id="R0f8a21ea554b4e71" /><Relationship Type="http://schemas.openxmlformats.org/officeDocument/2006/relationships/slide" Target="/ppt/slides/slide1.xml" Id="R656fba5b4b3f48e9" /><Relationship Type="http://schemas.openxmlformats.org/officeDocument/2006/relationships/slide" Target="/ppt/slides/slide2.xml" Id="Rf7badac11c684a01" /><Relationship Type="http://schemas.openxmlformats.org/officeDocument/2006/relationships/slide" Target="/ppt/slides/slide3.xml" Id="Rb76a5824e820487e" /><Relationship Type="http://schemas.openxmlformats.org/officeDocument/2006/relationships/slide" Target="/ppt/slides/slide4.xml" Id="R9f6ea2e6e3b443c8" /><Relationship Type="http://schemas.openxmlformats.org/officeDocument/2006/relationships/slide" Target="/ppt/slides/slide5.xml" Id="R7d698e4cfc2d4ee2" /><Relationship Type="http://schemas.openxmlformats.org/officeDocument/2006/relationships/slide" Target="/ppt/slides/slide6.xml" Id="R1b651a630a634626" /><Relationship Type="http://schemas.openxmlformats.org/officeDocument/2006/relationships/slide" Target="/ppt/slides/slide7.xml" Id="Re50514ddc11d4a04" /><Relationship Type="http://schemas.openxmlformats.org/officeDocument/2006/relationships/slide" Target="/ppt/slides/slide8.xml" Id="Rcafec3eeb1a84d29" /><Relationship Type="http://schemas.openxmlformats.org/officeDocument/2006/relationships/slide" Target="/ppt/slides/slide9.xml" Id="Rbf4e1e41a0194a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9d889b00d54c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a4a11f315242a5" /><Relationship Type="http://schemas.openxmlformats.org/officeDocument/2006/relationships/notesMaster" Target="/ppt/notesMasters/notesMaster1.xml" Id="R63c8be9343e846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ef82783b744ec5" /><Relationship Type="http://schemas.openxmlformats.org/officeDocument/2006/relationships/notesMaster" Target="/ppt/notesMasters/notesMaster1.xml" Id="R1264e07f332445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2d7e82a6024d94" /><Relationship Type="http://schemas.openxmlformats.org/officeDocument/2006/relationships/notesMaster" Target="/ppt/notesMasters/notesMaster1.xml" Id="R84ddf75361d242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82332454df4a9d" /><Relationship Type="http://schemas.openxmlformats.org/officeDocument/2006/relationships/notesMaster" Target="/ppt/notesMasters/notesMaster1.xml" Id="Rd644dd02286e48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4178bf94194f6e" /><Relationship Type="http://schemas.openxmlformats.org/officeDocument/2006/relationships/notesMaster" Target="/ppt/notesMasters/notesMaster1.xml" Id="R341282ed23fd4f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33813711d744aa" /><Relationship Type="http://schemas.openxmlformats.org/officeDocument/2006/relationships/notesMaster" Target="/ppt/notesMasters/notesMaster1.xml" Id="R6f8ec3faad9f49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9d16280fd94577" /><Relationship Type="http://schemas.openxmlformats.org/officeDocument/2006/relationships/notesMaster" Target="/ppt/notesMasters/notesMaster1.xml" Id="R33717296cc8646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b95788eb70d4c8d" /><Relationship Type="http://schemas.openxmlformats.org/officeDocument/2006/relationships/notesMaster" Target="/ppt/notesMasters/notesMaster1.xml" Id="R73201f5ad5814c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fbf13c005454755" /><Relationship Type="http://schemas.openxmlformats.org/officeDocument/2006/relationships/notesMaster" Target="/ppt/notesMasters/notesMaster1.xml" Id="R2cd80e57ba5844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423520ac3347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b320fda50f4519" /><Relationship Type="http://schemas.openxmlformats.org/officeDocument/2006/relationships/slideLayout" Target="/ppt/slideLayouts/slideLayout1.xml" Id="R95dc35466ffd46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dc35466ffd46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6bdbd22e24f35" /><Relationship Type="http://schemas.openxmlformats.org/officeDocument/2006/relationships/notesSlide" Target="/ppt/notesSlides/notesSlide1.xml" Id="R78a449769b6f4d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a4cbf08734f36" /><Relationship Type="http://schemas.openxmlformats.org/officeDocument/2006/relationships/notesSlide" Target="/ppt/notesSlides/notesSlide2.xml" Id="Raafea67022664d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2a27df1da4be1" /><Relationship Type="http://schemas.openxmlformats.org/officeDocument/2006/relationships/notesSlide" Target="/ppt/notesSlides/notesSlide3.xml" Id="Red9bbfeccf444c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8f9915b0c847ed" /><Relationship Type="http://schemas.openxmlformats.org/officeDocument/2006/relationships/notesSlide" Target="/ppt/notesSlides/notesSlide4.xml" Id="Rccf08c1ea01441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939b13bfb4101" /><Relationship Type="http://schemas.openxmlformats.org/officeDocument/2006/relationships/notesSlide" Target="/ppt/notesSlides/notesSlide5.xml" Id="Rbe93f7f3e4ab40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a4d2438ce4eca" /><Relationship Type="http://schemas.openxmlformats.org/officeDocument/2006/relationships/notesSlide" Target="/ppt/notesSlides/notesSlide6.xml" Id="Rfbad91306a4845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2dd2046a74094" /><Relationship Type="http://schemas.openxmlformats.org/officeDocument/2006/relationships/notesSlide" Target="/ppt/notesSlides/notesSlide7.xml" Id="Re1b1d97b070f47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3a4133fad34aaa" /><Relationship Type="http://schemas.openxmlformats.org/officeDocument/2006/relationships/notesSlide" Target="/ppt/notesSlides/notesSlide8.xml" Id="R958a77c48f454f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b54df33a349d1" /><Relationship Type="http://schemas.openxmlformats.org/officeDocument/2006/relationships/notesSlide" Target="/ppt/notesSlides/notesSlide9.xml" Id="Rad890c99852d4d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B7EC2C-B1A6-4A65-8A22-DC2A1F42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50908"/>
              </a:gs>
              <a:gs pos="70000">
                <a:srgbClr val="0D221A"/>
              </a:gs>
              <a:gs pos="100000">
                <a:srgbClr val="173127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4C3D82-A827-4771-B0F9-DB9A1335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763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68FF72"/>
          </a:solidFill>
          <a:ln xmlns:a="http://schemas.openxmlformats.org/drawingml/2006/main" w="0">
            <a:solidFill>
              <a:srgbClr val="68FF7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C7A258-DFD2-434B-80EF-DEE014AD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953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6210F"/>
                </a:solidFill>
              </a:defRPr>
            </a:pPr>
            <a:r>
              <a:rPr sz="1800" b="1">
                <a:solidFill>
                  <a:srgbClr val="06210F"/>
                </a:solidFill>
              </a:rPr>
              <a:t>FC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FEC1C-870D-413C-981B-2B320EDD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8FF72"/>
                </a:solidFill>
              </a:defRPr>
            </a:pPr>
            <a:r>
              <a:rPr sz="1350" b="1">
                <a:solidFill>
                  <a:srgbClr val="68FF72"/>
                </a:solidFill>
              </a:rPr>
              <a:t>QPR Goal Completion Recap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2E5AE5-D908-4FEE-B7C2-3F538CEA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752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5FFF8"/>
                </a:solidFill>
              </a:defRPr>
            </a:pPr>
            <a:r>
              <a:rPr sz="4050" b="1">
                <a:solidFill>
                  <a:srgbClr val="F5FFF8"/>
                </a:solidFill>
              </a:rPr>
              <a:t>Mobile Fitness Tracker</a:t>
            </a:r>
          </a:p>
          <a:p xmlns:a="http://schemas.openxmlformats.org/drawingml/2006/main">
            <a:pPr>
              <a:defRPr sz="4050" b="1">
                <a:solidFill>
                  <a:srgbClr val="F5FFF8"/>
                </a:solidFill>
              </a:defRPr>
            </a:pPr>
            <a:r>
              <a:rPr sz="4050" b="1">
                <a:solidFill>
                  <a:srgbClr val="F5FFF8"/>
                </a:solidFill>
              </a:rPr>
              <a:t>with AI Coaching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C5C120-F5C2-42D8-8C21-D45C2181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A9BBB1"/>
                </a:solidFill>
              </a:defRPr>
            </a:pPr>
            <a:r>
              <a:rPr sz="1800">
                <a:solidFill>
                  <a:srgbClr val="A9BBB1"/>
                </a:solidFill>
              </a:rPr>
              <a:t>React Native + Expo Router, NestJS, MongoDB, React Query, and Gemini streaming 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34A55-49B6-413C-B10C-B0E14B11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33500"/>
            <a:ext cx="2857500" cy="3714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10221B"/>
          </a:solidFill>
          <a:ln xmlns:a="http://schemas.openxmlformats.org/drawingml/2006/main" w="12383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01B11-CFC9-4DCE-802D-6542B6DA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67640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FF8"/>
                </a:solidFill>
              </a:defRPr>
            </a:pPr>
            <a:r>
              <a:rPr sz="1875" b="1">
                <a:solidFill>
                  <a:srgbClr val="F5FFF8"/>
                </a:solidFill>
              </a:rPr>
              <a:t>Demo 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CEB4A-1EAA-43FF-AE88-79AE8C715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5"/>
          </a:solidFill>
          <a:ln xmlns:a="http://schemas.openxmlformats.org/drawingml/2006/main" w="0">
            <a:solidFill>
              <a:srgbClr val="FF6B5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35A2B2-874C-4DE5-8459-7AB98CF7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050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Log a real workout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97417-0D40-4D67-BAC2-E0A4746A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33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5"/>
          </a:solidFill>
          <a:ln xmlns:a="http://schemas.openxmlformats.org/drawingml/2006/main" w="0">
            <a:solidFill>
              <a:srgbClr val="FF6B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C2C16-5C57-492E-8B7B-6CC92E68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Sync dashboard stats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92E1FA-05FF-4627-B8B3-46FA32F1D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86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5"/>
          </a:solidFill>
          <a:ln xmlns:a="http://schemas.openxmlformats.org/drawingml/2006/main" w="0">
            <a:solidFill>
              <a:srgbClr val="FF6B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DA8BF-E695-400D-A278-3E2D1306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0995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Review 30-day progress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3E674D-A326-48AB-88AE-23BCE3E0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038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5"/>
          </a:solidFill>
          <a:ln xmlns:a="http://schemas.openxmlformats.org/drawingml/2006/main" w="0">
            <a:solidFill>
              <a:srgbClr val="FF6B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E07D2-8D08-43A9-9938-98520B47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62400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Ask AI Coach for a plan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DD407B-C37A-44C0-A173-EFD0C3E2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4381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C948A"/>
                </a:solidFill>
              </a:defRPr>
            </a:pPr>
            <a:r>
              <a:rPr sz="1275">
                <a:solidFill>
                  <a:srgbClr val="7C948A"/>
                </a:solidFill>
              </a:rPr>
              <a:t>Prepared for QPR goal review</a:t>
            </a:r>
          </a:p>
        </p:txBody>
      </p:sp>
    </p:spTree>
    <p:extLst>
      <p:ext uri="{BB962C8B-B14F-4D97-AF65-F5344CB8AC3E}">
        <p14:creationId xmlns:p14="http://schemas.microsoft.com/office/powerpoint/2010/main" val="12863801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06D79D-E329-4FA0-8824-BF7A3987C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0D"/>
              </a:gs>
              <a:gs pos="62000">
                <a:srgbClr val="0B1713"/>
              </a:gs>
              <a:gs pos="100000">
                <a:srgbClr val="11231D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E02E3-FE8A-4418-A6C8-EF237A5E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FF72"/>
                </a:solidFill>
              </a:defRPr>
            </a:pPr>
            <a:r>
              <a:rPr sz="975" b="1">
                <a:solidFill>
                  <a:srgbClr val="68FF72"/>
                </a:solidFill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8C64C-63C7-4D18-AB6C-E00FBEE9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FF8"/>
                </a:solidFill>
              </a:defRPr>
            </a:pPr>
            <a:r>
              <a:rPr sz="3000" b="1">
                <a:solidFill>
                  <a:srgbClr val="F5FFF8"/>
                </a:solidFill>
              </a:rPr>
              <a:t>Fitness tracking apps capture data, but rarely turn it into coaching.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BA76C8-FEFA-4235-B543-BFD13C5A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9BBB1"/>
                </a:solidFill>
              </a:defRPr>
            </a:pPr>
            <a:r>
              <a:rPr sz="1500">
                <a:solidFill>
                  <a:srgbClr val="A9BBB1"/>
                </a:solidFill>
              </a:rPr>
              <a:t>The assignment challenge was to combine mobile UX, backend architecture, and AI streaming into one production-ready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FE5B84-0A60-454F-98BB-FAB62503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83A092"/>
                </a:solidFill>
              </a:defRPr>
            </a:pPr>
            <a:r>
              <a:rPr sz="975">
                <a:solidFill>
                  <a:srgbClr val="83A092"/>
                </a:solidFill>
              </a:rPr>
              <a:t>FitCoach QPR Recap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415DE-423C-40DB-8A2E-69F1A026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323850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0201A"/>
          </a:solidFill>
          <a:ln xmlns:a="http://schemas.openxmlformats.org/drawingml/2006/main" w="12383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8FFE2-64F1-4460-94CB-3455FC6C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FF8"/>
                </a:solidFill>
              </a:defRPr>
            </a:pPr>
            <a:r>
              <a:rPr sz="1875" b="1">
                <a:solidFill>
                  <a:srgbClr val="F5FFF8"/>
                </a:solidFill>
              </a:rPr>
              <a:t>User Challenge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4B92E-E507-4616-ACBF-5A46A957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52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5"/>
          </a:solidFill>
          <a:ln xmlns:a="http://schemas.openxmlformats.org/drawingml/2006/main" w="0">
            <a:solidFill>
              <a:srgbClr val="FF6B5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2FDA9-088A-434D-877D-2CD87B9A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76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Workout logs become passive history.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8FFC4-01FF-486E-BD98-D94FA017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0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5"/>
          </a:solidFill>
          <a:ln xmlns:a="http://schemas.openxmlformats.org/drawingml/2006/main" w="0">
            <a:solidFill>
              <a:srgbClr val="FF6B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72C8D1-8800-426A-BA55-D5C392F5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338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Users struggle to spot plateaus.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61D349-643E-4853-9397-61149854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6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5"/>
          </a:solidFill>
          <a:ln xmlns:a="http://schemas.openxmlformats.org/drawingml/2006/main" w="0">
            <a:solidFill>
              <a:srgbClr val="FF6B5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54AC7D-4278-4275-A37C-57E2EEB5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910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Generic advice ignores actual training.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48262-125A-4BF4-83B0-78A7B163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19375"/>
            <a:ext cx="323850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0201A"/>
          </a:solidFill>
          <a:ln xmlns:a="http://schemas.openxmlformats.org/drawingml/2006/main" w="12383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6AA6AC-7E03-4400-81A1-8DCE0BAF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05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FF8"/>
                </a:solidFill>
              </a:defRPr>
            </a:pPr>
            <a:r>
              <a:rPr sz="1875" b="1">
                <a:solidFill>
                  <a:srgbClr val="F5FFF8"/>
                </a:solidFill>
              </a:rPr>
              <a:t>Engineering Challenge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89A6E-1C4C-4768-BA79-C9D40645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52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FF72"/>
          </a:solidFill>
          <a:ln xmlns:a="http://schemas.openxmlformats.org/drawingml/2006/main" w="0">
            <a:solidFill>
              <a:srgbClr val="68FF7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6C9AFE-2B8D-4F2C-AF43-405D4359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76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Typed mobile + backend contracts.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180235-3832-40A9-86E1-A54B9EAB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010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FF72"/>
          </a:solidFill>
          <a:ln xmlns:a="http://schemas.openxmlformats.org/drawingml/2006/main" w="0">
            <a:solidFill>
              <a:srgbClr val="68FF7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FA381-50D7-4A33-9B5A-E0CE7C12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338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Secure auth and user-scoped data.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25EAB2-5A79-4A50-9447-30EE34D5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6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FF72"/>
          </a:solidFill>
          <a:ln xmlns:a="http://schemas.openxmlformats.org/drawingml/2006/main" w="0">
            <a:solidFill>
              <a:srgbClr val="68FF7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761E08-9146-4C56-B70F-D954FCA8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910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Streaming LLM responses on mobile.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191B75-EDA9-46E8-A7C7-69E46685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19375"/>
            <a:ext cx="3238500" cy="2762250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10201A"/>
          </a:solidFill>
          <a:ln xmlns:a="http://schemas.openxmlformats.org/drawingml/2006/main" w="12383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34E68C-FF9A-4C9D-9B31-EABA25D8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051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5FFF8"/>
                </a:solidFill>
              </a:defRPr>
            </a:pPr>
            <a:r>
              <a:rPr sz="1875" b="1">
                <a:solidFill>
                  <a:srgbClr val="F5FFF8"/>
                </a:solidFill>
              </a:rPr>
              <a:t>Portfolio Challenge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14C894-FF58-4EF0-8229-D1D0D55F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52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D6FF"/>
          </a:solidFill>
          <a:ln xmlns:a="http://schemas.openxmlformats.org/drawingml/2006/main" w="0">
            <a:solidFill>
              <a:srgbClr val="33D6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BFE1B5-BEA3-4E99-A14F-4183C64E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766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Show senior-ready architecture.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C1740C-8CEB-4514-A7AA-0D59DE44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100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D6FF"/>
          </a:solidFill>
          <a:ln xmlns:a="http://schemas.openxmlformats.org/drawingml/2006/main" w="0">
            <a:solidFill>
              <a:srgbClr val="33D6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B21A02-F66F-44E8-837B-3FA387F07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338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Cover Expo Router and NestJS gaps.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745DB3-DD06-4ABB-86FF-C7B39A27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67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D6FF"/>
          </a:solidFill>
          <a:ln xmlns:a="http://schemas.openxmlformats.org/drawingml/2006/main" w="0">
            <a:solidFill>
              <a:srgbClr val="33D6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402865-D9D9-4E32-8713-4F4E11EE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9102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Deliver a demoable full-stack app.</a:t>
            </a:r>
          </a:p>
        </p:txBody>
      </p:sp>
    </p:spTree>
    <p:extLst>
      <p:ext uri="{BB962C8B-B14F-4D97-AF65-F5344CB8AC3E}">
        <p14:creationId xmlns:p14="http://schemas.microsoft.com/office/powerpoint/2010/main" val="7431198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8BB279-8108-4138-B986-D8652CCC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0D"/>
              </a:gs>
              <a:gs pos="62000">
                <a:srgbClr val="0B1713"/>
              </a:gs>
              <a:gs pos="100000">
                <a:srgbClr val="11231D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98ADAD-1027-4C05-9B93-6148A39F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FF72"/>
                </a:solidFill>
              </a:defRPr>
            </a:pPr>
            <a:r>
              <a:rPr sz="975" b="1">
                <a:solidFill>
                  <a:srgbClr val="68FF72"/>
                </a:solidFill>
              </a:rPr>
              <a:t>GOAL &amp; SUCCESS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5F62C-58ED-4CE0-AE65-03CE15B2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FF8"/>
                </a:solidFill>
              </a:defRPr>
            </a:pPr>
            <a:r>
              <a:rPr sz="3000" b="1">
                <a:solidFill>
                  <a:srgbClr val="F5FFF8"/>
                </a:solidFill>
              </a:rPr>
              <a:t>Build a complete mobile fitness tracker that feels demo-ready.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4E53E-F095-4FF8-B16A-CA64C8C2D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9BBB1"/>
                </a:solidFill>
              </a:defRPr>
            </a:pPr>
            <a:r>
              <a:rPr sz="1500">
                <a:solidFill>
                  <a:srgbClr val="A9BBB1"/>
                </a:solidFill>
              </a:rPr>
              <a:t>The implementation needed to prove both user value and senior full-stack execution.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7368A-06EA-414D-AAC3-4B87CEA9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83A092"/>
                </a:solidFill>
              </a:defRPr>
            </a:pPr>
            <a:r>
              <a:rPr sz="975">
                <a:solidFill>
                  <a:srgbClr val="83A092"/>
                </a:solidFill>
              </a:rPr>
              <a:t>FitCoach QPR Recap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6A035-2A2F-44E8-96A8-23120A10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333625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E1B16"/>
          </a:solidFill>
          <a:ln xmlns:a="http://schemas.openxmlformats.org/drawingml/2006/main" w="12383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AE6F8-9E77-4D20-826B-4C7378F0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68FF72"/>
                </a:solidFill>
              </a:defRPr>
            </a:pPr>
            <a:r>
              <a:rPr sz="2550" b="1">
                <a:solidFill>
                  <a:srgbClr val="68FF72"/>
                </a:solidFill>
              </a:rPr>
              <a:t>4+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50BA6-29A8-451A-A0E9-B8A51BF6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9BBB1"/>
                </a:solidFill>
              </a:defRPr>
            </a:pPr>
            <a:r>
              <a:rPr sz="1125">
                <a:solidFill>
                  <a:srgbClr val="A9BBB1"/>
                </a:solidFill>
              </a:rPr>
              <a:t>Required core screens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6E5124-4269-4E03-8AD5-B68002E1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76500"/>
            <a:ext cx="2333625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E1B16"/>
          </a:solidFill>
          <a:ln xmlns:a="http://schemas.openxmlformats.org/drawingml/2006/main" w="12383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53AB7E-6327-4D80-966A-59C1F7BB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6B55"/>
                </a:solidFill>
              </a:defRPr>
            </a:pPr>
            <a:r>
              <a:rPr sz="2550" b="1">
                <a:solidFill>
                  <a:srgbClr val="FF6B55"/>
                </a:solidFill>
              </a:rPr>
              <a:t>30 days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67BD5-4DA9-4B00-8ECE-C8AF4E96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08610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9BBB1"/>
                </a:solidFill>
              </a:defRPr>
            </a:pPr>
            <a:r>
              <a:rPr sz="1125">
                <a:solidFill>
                  <a:srgbClr val="A9BBB1"/>
                </a:solidFill>
              </a:rPr>
              <a:t>Workout context for 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A097C-3D7A-4CEC-828D-389BEBC35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76500"/>
            <a:ext cx="2333625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E1B16"/>
          </a:solidFill>
          <a:ln xmlns:a="http://schemas.openxmlformats.org/drawingml/2006/main" w="12383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813A45-8B67-4472-92A6-C70CEBE9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33D6FF"/>
                </a:solidFill>
              </a:defRPr>
            </a:pPr>
            <a:r>
              <a:rPr sz="2550" b="1">
                <a:solidFill>
                  <a:srgbClr val="33D6FF"/>
                </a:solidFill>
              </a:rPr>
              <a:t>Live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87880D-9D12-4221-8FAB-6017C336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8610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9BBB1"/>
                </a:solidFill>
              </a:defRPr>
            </a:pPr>
            <a:r>
              <a:rPr sz="1125">
                <a:solidFill>
                  <a:srgbClr val="A9BBB1"/>
                </a:solidFill>
              </a:rPr>
              <a:t>Streaming coach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F00E4-2A8D-4B8F-81E1-47651331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76500"/>
            <a:ext cx="2333625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E1B16"/>
          </a:solidFill>
          <a:ln xmlns:a="http://schemas.openxmlformats.org/drawingml/2006/main" w="12383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FCC6C1-AFB3-4A22-98B3-3378A297B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47950"/>
            <a:ext cx="1857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B7CFF"/>
                </a:solidFill>
              </a:defRPr>
            </a:pPr>
            <a:r>
              <a:rPr sz="2550" b="1">
                <a:solidFill>
                  <a:srgbClr val="9B7CFF"/>
                </a:solidFill>
              </a:rPr>
              <a:t>Typed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3FBAAC-DFFA-4AC5-B45A-34462189B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8610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9BBB1"/>
                </a:solidFill>
              </a:defRPr>
            </a:pPr>
            <a:r>
              <a:rPr sz="1125">
                <a:solidFill>
                  <a:srgbClr val="A9BBB1"/>
                </a:solidFill>
              </a:rPr>
              <a:t>End-to-end TypeScript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A5A80F-6262-4A07-9D1B-19C241FE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14478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0D1A16"/>
          </a:solidFill>
          <a:ln xmlns:a="http://schemas.openxmlformats.org/drawingml/2006/main" w="12383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8879B8-439E-4B85-9770-BEB8AF8C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1005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5FFF8"/>
                </a:solidFill>
              </a:defRPr>
            </a:pPr>
            <a:r>
              <a:rPr sz="1875">
                <a:solidFill>
                  <a:srgbClr val="F5FFF8"/>
                </a:solidFill>
              </a:rPr>
              <a:t>Success meant the app could demonstrate: register/login, log workouts, view dashboard/history/progress, receive AI coaching grounded in workout data, and persist previous chat history.</a:t>
            </a:r>
          </a:p>
        </p:txBody>
      </p:sp>
    </p:spTree>
    <p:extLst>
      <p:ext uri="{BB962C8B-B14F-4D97-AF65-F5344CB8AC3E}">
        <p14:creationId xmlns:p14="http://schemas.microsoft.com/office/powerpoint/2010/main" val="388799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58D43F-42B0-4641-976C-1D8DCFC55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0D"/>
              </a:gs>
              <a:gs pos="62000">
                <a:srgbClr val="0B1713"/>
              </a:gs>
              <a:gs pos="100000">
                <a:srgbClr val="11231D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D0221-4DBA-4031-B1F2-D34349B7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FF72"/>
                </a:solidFill>
              </a:defRPr>
            </a:pPr>
            <a:r>
              <a:rPr sz="975" b="1">
                <a:solidFill>
                  <a:srgbClr val="68FF72"/>
                </a:solidFill>
              </a:rPr>
              <a:t>SOLUTION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24B4C-8558-423D-99FF-052DC00FE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FF8"/>
                </a:solidFill>
              </a:defRPr>
            </a:pPr>
            <a:r>
              <a:rPr sz="3000" b="1">
                <a:solidFill>
                  <a:srgbClr val="F5FFF8"/>
                </a:solidFill>
              </a:rPr>
              <a:t>A mobile-first app connected to a modular NestJS API and Gemini AI.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A09E9-F52B-4237-8D8B-9DF963F4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9BBB1"/>
                </a:solidFill>
              </a:defRPr>
            </a:pPr>
            <a:r>
              <a:rPr sz="1500">
                <a:solidFill>
                  <a:srgbClr val="A9BBB1"/>
                </a:solidFill>
              </a:rPr>
              <a:t>React Query owns server state, MongoDB stores user/workout/chat data, and the AI module streams coaching back to the app.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18E1B-DE79-4193-B9BF-677D620D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83A092"/>
                </a:solidFill>
              </a:defRPr>
            </a:pPr>
            <a:r>
              <a:rPr sz="975">
                <a:solidFill>
                  <a:srgbClr val="83A092"/>
                </a:solidFill>
              </a:rPr>
              <a:t>FitCoach QPR Recap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27F09-4ABC-45B2-912B-C7DFB08DA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1952625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1D19"/>
          </a:solidFill>
          <a:ln xmlns:a="http://schemas.openxmlformats.org/drawingml/2006/main" w="12383">
            <a:solidFill>
              <a:srgbClr val="68FF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A8E15-8AD4-44F6-88B9-E80C3817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FF8"/>
                </a:solidFill>
              </a:defRPr>
            </a:pPr>
            <a:r>
              <a:rPr sz="1350" b="1">
                <a:solidFill>
                  <a:srgbClr val="F5FFF8"/>
                </a:solidFill>
              </a:rPr>
              <a:t>Expo Mobile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591B1-8C17-47A5-81CD-134D20CC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48050"/>
            <a:ext cx="609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554B"/>
          </a:solidFill>
          <a:ln xmlns:a="http://schemas.openxmlformats.org/drawingml/2006/main" w="0">
            <a:solidFill>
              <a:srgbClr val="3955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EC08D-BB51-4C41-A368-D50CB094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90875"/>
            <a:ext cx="2190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1D19"/>
          </a:solidFill>
          <a:ln xmlns:a="http://schemas.openxmlformats.org/drawingml/2006/main" w="12383">
            <a:solidFill>
              <a:srgbClr val="33D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2159F-2E42-4CA0-9C4F-B0172313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00425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FF8"/>
                </a:solidFill>
              </a:defRPr>
            </a:pPr>
            <a:r>
              <a:rPr sz="1350" b="1">
                <a:solidFill>
                  <a:srgbClr val="F5FFF8"/>
                </a:solidFill>
              </a:rPr>
              <a:t>React Query + Axios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BB2895-DEFC-4AC4-A28B-99E5493F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448050"/>
            <a:ext cx="609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554B"/>
          </a:solidFill>
          <a:ln xmlns:a="http://schemas.openxmlformats.org/drawingml/2006/main" w="0">
            <a:solidFill>
              <a:srgbClr val="3955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332CF-5BF6-462B-9EF0-4906D3E5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90875"/>
            <a:ext cx="17907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1D19"/>
          </a:solidFill>
          <a:ln xmlns:a="http://schemas.openxmlformats.org/drawingml/2006/main" w="12383">
            <a:solidFill>
              <a:srgbClr val="FF6B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FCE678-F267-4393-8557-B8F759DA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00425"/>
            <a:ext cx="144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FF8"/>
                </a:solidFill>
              </a:defRPr>
            </a:pPr>
            <a:r>
              <a:rPr sz="1350" b="1">
                <a:solidFill>
                  <a:srgbClr val="F5FFF8"/>
                </a:solidFill>
              </a:rPr>
              <a:t>NestJS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CA61A-8303-4B4E-91B9-F87D982C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448050"/>
            <a:ext cx="609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9554B"/>
          </a:solidFill>
          <a:ln xmlns:a="http://schemas.openxmlformats.org/drawingml/2006/main" w="0">
            <a:solidFill>
              <a:srgbClr val="3955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6AC219-4783-4E50-B4C2-45DA15A4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90875"/>
            <a:ext cx="22098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101D19"/>
          </a:solidFill>
          <a:ln xmlns:a="http://schemas.openxmlformats.org/drawingml/2006/main" w="12383">
            <a:solidFill>
              <a:srgbClr val="9B7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C01A12-DA0F-417D-8507-A5F93E27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0042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FFF8"/>
                </a:solidFill>
              </a:defRPr>
            </a:pPr>
            <a:r>
              <a:rPr sz="1350" b="1">
                <a:solidFill>
                  <a:srgbClr val="F5FFF8"/>
                </a:solidFill>
              </a:rPr>
              <a:t>MongoDB + Gemini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F59139-32A3-4D5A-B699-EF5DE461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67250"/>
            <a:ext cx="92964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D1A16"/>
          </a:solidFill>
          <a:ln xmlns:a="http://schemas.openxmlformats.org/drawingml/2006/main" w="12383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288767-A398-4762-91DB-C0A6C8A4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958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A9BBB1"/>
                </a:solidFill>
              </a:defRPr>
            </a:pPr>
            <a:r>
              <a:rPr sz="1500">
                <a:solidFill>
                  <a:srgbClr val="A9BBB1"/>
                </a:solidFill>
              </a:rPr>
              <a:t>Data flow: user logs workout → app syncs/cache invalidates → backend fetches last 30 days → Gemini generates detailed advice → response streams into chat and is saved.</a:t>
            </a:r>
          </a:p>
        </p:txBody>
      </p:sp>
    </p:spTree>
    <p:extLst>
      <p:ext uri="{BB962C8B-B14F-4D97-AF65-F5344CB8AC3E}">
        <p14:creationId xmlns:p14="http://schemas.microsoft.com/office/powerpoint/2010/main" val="776466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B1495A-281B-429F-839D-2F71EBE6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0D"/>
              </a:gs>
              <a:gs pos="62000">
                <a:srgbClr val="0B1713"/>
              </a:gs>
              <a:gs pos="100000">
                <a:srgbClr val="11231D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CF587-4763-4B18-967F-786F4209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FF72"/>
                </a:solidFill>
              </a:defRPr>
            </a:pPr>
            <a:r>
              <a:rPr sz="975" b="1">
                <a:solidFill>
                  <a:srgbClr val="68FF72"/>
                </a:solidFill>
              </a:rPr>
              <a:t>KEY FEATURES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35E3D-4D4B-419E-AE1E-D70138CC7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FF8"/>
                </a:solidFill>
              </a:defRPr>
            </a:pPr>
            <a:r>
              <a:rPr sz="3000" b="1">
                <a:solidFill>
                  <a:srgbClr val="F5FFF8"/>
                </a:solidFill>
              </a:rPr>
              <a:t>The product covers the full workout journey, not just isolated screens.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AFB83-FA3A-46F4-9FDC-D3551F7E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9BBB1"/>
                </a:solidFill>
              </a:defRPr>
            </a:pPr>
            <a:r>
              <a:rPr sz="1500">
                <a:solidFill>
                  <a:srgbClr val="A9BBB1"/>
                </a:solidFill>
              </a:rPr>
              <a:t>Each feature maps to a real user flow that can be shown during the demo.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D54697-728D-4BC3-9D71-F7C8BC38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83A092"/>
                </a:solidFill>
              </a:defRPr>
            </a:pPr>
            <a:r>
              <a:rPr sz="975">
                <a:solidFill>
                  <a:srgbClr val="83A092"/>
                </a:solidFill>
              </a:rPr>
              <a:t>FitCoach QPR Recap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746AB-1664-4004-B36A-B2DADEB3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2575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D1C17"/>
          </a:solidFill>
          <a:ln xmlns:a="http://schemas.openxmlformats.org/drawingml/2006/main" w="12383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968F06-B8AB-418E-A5B3-18309194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412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8FF72"/>
                </a:solidFill>
              </a:defRPr>
            </a:pPr>
            <a:r>
              <a:rPr sz="1725" b="1">
                <a:solidFill>
                  <a:srgbClr val="68FF72"/>
                </a:solidFill>
              </a:rPr>
              <a:t>Authentication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869347-09FC-4F1B-95C1-53F3D1F9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6075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9BBB1"/>
                </a:solidFill>
              </a:defRPr>
            </a:pPr>
            <a:r>
              <a:rPr sz="1200">
                <a:solidFill>
                  <a:srgbClr val="A9BBB1"/>
                </a:solidFill>
              </a:rPr>
              <a:t>JWT login, register, recovery flow, session restore.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1017A-8FEB-486B-B017-0A82DC5A2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33625"/>
            <a:ext cx="32575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11F1A"/>
          </a:solidFill>
          <a:ln xmlns:a="http://schemas.openxmlformats.org/drawingml/2006/main" w="12383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F71DA3-03DF-4DE4-B1CC-8A0FA015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2412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6B55"/>
                </a:solidFill>
              </a:defRPr>
            </a:pPr>
            <a:r>
              <a:rPr sz="1725" b="1">
                <a:solidFill>
                  <a:srgbClr val="FF6B55"/>
                </a:solidFill>
              </a:rPr>
              <a:t>Workout Tracking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1E0DE2-E808-48CB-B7F0-3770377B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86075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9BBB1"/>
                </a:solidFill>
              </a:defRPr>
            </a:pPr>
            <a:r>
              <a:rPr sz="1200">
                <a:solidFill>
                  <a:srgbClr val="A9BBB1"/>
                </a:solidFill>
              </a:rPr>
              <a:t>Create, edit, delete, details, date picker, exercise selector.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E6C33-A579-48E4-A665-65B2B843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33625"/>
            <a:ext cx="32575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D1C17"/>
          </a:solidFill>
          <a:ln xmlns:a="http://schemas.openxmlformats.org/drawingml/2006/main" w="12383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BC3500-18D1-4746-B070-4C03D8D1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2412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8FF72"/>
                </a:solidFill>
              </a:defRPr>
            </a:pPr>
            <a:r>
              <a:rPr sz="1725" b="1">
                <a:solidFill>
                  <a:srgbClr val="68FF72"/>
                </a:solidFill>
              </a:rPr>
              <a:t>Dashboard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59A122-AE5A-4396-BF75-A7F04E99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86075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9BBB1"/>
                </a:solidFill>
              </a:defRPr>
            </a:pPr>
            <a:r>
              <a:rPr sz="1200">
                <a:solidFill>
                  <a:srgbClr val="A9BBB1"/>
                </a:solidFill>
              </a:rPr>
              <a:t>Weekly stats, recent workouts, top exercise, quick actions.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52A75F-E060-4D8C-BD7A-D4B289D0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2575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11F1A"/>
          </a:solidFill>
          <a:ln xmlns:a="http://schemas.openxmlformats.org/drawingml/2006/main" w="12383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06948F-A6F5-46EE-BAED-72EA56A6F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5287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6B55"/>
                </a:solidFill>
              </a:defRPr>
            </a:pPr>
            <a:r>
              <a:rPr sz="1725" b="1">
                <a:solidFill>
                  <a:srgbClr val="FF6B55"/>
                </a:solidFill>
              </a:rPr>
              <a:t>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80500-8805-4C44-B8B7-52AC7B7A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4825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9BBB1"/>
                </a:solidFill>
              </a:defRPr>
            </a:pPr>
            <a:r>
              <a:rPr sz="1200">
                <a:solidFill>
                  <a:srgbClr val="A9BBB1"/>
                </a:solidFill>
              </a:rPr>
              <a:t>Last 30-day history, charts, trends, exercise distribution.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EE362F-25C2-4DED-8F94-2EB4ACF4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62375"/>
            <a:ext cx="32575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0D1C17"/>
          </a:solidFill>
          <a:ln xmlns:a="http://schemas.openxmlformats.org/drawingml/2006/main" w="12383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71A2F4-FB4A-4640-84A6-1C6E334F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95287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68FF72"/>
                </a:solidFill>
              </a:defRPr>
            </a:pPr>
            <a:r>
              <a:rPr sz="1725" b="1">
                <a:solidFill>
                  <a:srgbClr val="68FF72"/>
                </a:solidFill>
              </a:rPr>
              <a:t>AI Coach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661A0-C600-4D23-B86C-4C4BBE3A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14825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9BBB1"/>
                </a:solidFill>
              </a:defRPr>
            </a:pPr>
            <a:r>
              <a:rPr sz="1200">
                <a:solidFill>
                  <a:srgbClr val="A9BBB1"/>
                </a:solidFill>
              </a:rPr>
              <a:t>Streaming advice, persisted chat history, retry/error UX.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99277F-5B3C-4E7D-968C-711B916C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62375"/>
            <a:ext cx="32575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111F1A"/>
          </a:solidFill>
          <a:ln xmlns:a="http://schemas.openxmlformats.org/drawingml/2006/main" w="12383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B6075A-085A-4C21-81C9-4F205336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52875"/>
            <a:ext cx="2800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6B55"/>
                </a:solidFill>
              </a:defRPr>
            </a:pPr>
            <a:r>
              <a:rPr sz="1725" b="1">
                <a:solidFill>
                  <a:srgbClr val="FF6B55"/>
                </a:solidFill>
              </a:rPr>
              <a:t>Profile &amp; Settings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94B0A4-B290-4104-9CFC-D51A3F80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14825"/>
            <a:ext cx="2800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9BBB1"/>
                </a:solidFill>
              </a:defRPr>
            </a:pPr>
            <a:r>
              <a:rPr sz="1200">
                <a:solidFill>
                  <a:srgbClr val="A9BBB1"/>
                </a:solidFill>
              </a:rPr>
              <a:t>Profile updates, logout, themes, light/dark support.</a:t>
            </a:r>
          </a:p>
        </p:txBody>
      </p:sp>
    </p:spTree>
    <p:extLst>
      <p:ext uri="{BB962C8B-B14F-4D97-AF65-F5344CB8AC3E}">
        <p14:creationId xmlns:p14="http://schemas.microsoft.com/office/powerpoint/2010/main" val="12173575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555595-5653-46BA-A4D8-D3780A78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0D"/>
              </a:gs>
              <a:gs pos="62000">
                <a:srgbClr val="0B1713"/>
              </a:gs>
              <a:gs pos="100000">
                <a:srgbClr val="11231D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5281F0-A813-49AC-BDAF-FAC61227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FF72"/>
                </a:solidFill>
              </a:defRPr>
            </a:pPr>
            <a:r>
              <a:rPr sz="975" b="1">
                <a:solidFill>
                  <a:srgbClr val="68FF72"/>
                </a:solidFill>
              </a:rPr>
              <a:t>BACKEND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3B039-614C-469D-9BA6-FA9D57B5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FF8"/>
                </a:solidFill>
              </a:defRPr>
            </a:pPr>
            <a:r>
              <a:rPr sz="3000" b="1">
                <a:solidFill>
                  <a:srgbClr val="F5FFF8"/>
                </a:solidFill>
              </a:rPr>
              <a:t>Clean NestJS modules with user-scoped data and production config.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FD112-327D-4FF5-A950-316C4824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9BBB1"/>
                </a:solidFill>
              </a:defRPr>
            </a:pPr>
            <a:r>
              <a:rPr sz="1500">
                <a:solidFill>
                  <a:srgbClr val="A9BBB1"/>
                </a:solidFill>
              </a:rPr>
              <a:t>The backend is structured for maintainability, validation, deployment, and secure access.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C23F6A-859C-4E0C-B718-5A12D1F8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83A092"/>
                </a:solidFill>
              </a:defRPr>
            </a:pPr>
            <a:r>
              <a:rPr sz="975">
                <a:solidFill>
                  <a:srgbClr val="83A092"/>
                </a:solidFill>
              </a:rPr>
              <a:t>FitCoach QPR Recap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E5152-11E0-4C3C-9773-B0276D29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4762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D1B16"/>
          </a:solidFill>
          <a:ln xmlns:a="http://schemas.openxmlformats.org/drawingml/2006/main" w="12383">
            <a:solidFill>
              <a:srgbClr val="68FF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B473C7-8D15-4E9C-839A-6B158F6B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1935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FF8"/>
                </a:solidFill>
              </a:defRPr>
            </a:pPr>
            <a:r>
              <a:rPr sz="1800" b="1">
                <a:solidFill>
                  <a:srgbClr val="F5FFF8"/>
                </a:solidFill>
              </a:rPr>
              <a:t>Auth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2EC95-9275-4CF8-BADB-54FD93D2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4792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9BBB1"/>
                </a:solidFill>
              </a:defRPr>
            </a:pPr>
            <a:r>
              <a:rPr sz="1275">
                <a:solidFill>
                  <a:srgbClr val="A9BBB1"/>
                </a:solidFill>
              </a:rPr>
              <a:t>JWT, bcrypt, guards, current 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1F2031-5B29-4ECB-B395-83692F10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66950"/>
            <a:ext cx="4762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D1B16"/>
          </a:solidFill>
          <a:ln xmlns:a="http://schemas.openxmlformats.org/drawingml/2006/main" w="12383">
            <a:solidFill>
              <a:srgbClr val="33D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562711-2583-447A-987A-A77997759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1935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FF8"/>
                </a:solidFill>
              </a:defRPr>
            </a:pPr>
            <a:r>
              <a:rPr sz="1800" b="1">
                <a:solidFill>
                  <a:srgbClr val="F5FFF8"/>
                </a:solidFill>
              </a:rPr>
              <a:t>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1F5448-7E9A-4A23-B2C6-F54D2F1DC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4792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9BBB1"/>
                </a:solidFill>
              </a:defRPr>
            </a:pPr>
            <a:r>
              <a:rPr sz="1275">
                <a:solidFill>
                  <a:srgbClr val="A9BBB1"/>
                </a:solidFill>
              </a:rPr>
              <a:t>Profile schema and update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2BC07-6276-4757-B310-3975A5A1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67075"/>
            <a:ext cx="4762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D1B16"/>
          </a:solidFill>
          <a:ln xmlns:a="http://schemas.openxmlformats.org/drawingml/2006/main" w="12383">
            <a:solidFill>
              <a:srgbClr val="68FF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C3E9F-10F0-47AF-90CF-9DFDBBA6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194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FF8"/>
                </a:solidFill>
              </a:defRPr>
            </a:pPr>
            <a:r>
              <a:rPr sz="1800" b="1">
                <a:solidFill>
                  <a:srgbClr val="F5FFF8"/>
                </a:solidFill>
              </a:rPr>
              <a:t>Workouts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9851C-E393-41F3-8670-EA4342424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48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9BBB1"/>
                </a:solidFill>
              </a:defRPr>
            </a:pPr>
            <a:r>
              <a:rPr sz="1275">
                <a:solidFill>
                  <a:srgbClr val="A9BBB1"/>
                </a:solidFill>
              </a:rPr>
              <a:t>CRUD, pagination, filters, stats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38015-664B-43FF-AFC0-85D32468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67075"/>
            <a:ext cx="4762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D1B16"/>
          </a:solidFill>
          <a:ln xmlns:a="http://schemas.openxmlformats.org/drawingml/2006/main" w="12383">
            <a:solidFill>
              <a:srgbClr val="33D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E16F06-F446-4810-9966-8CA5A71F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19475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FF8"/>
                </a:solidFill>
              </a:defRPr>
            </a:pPr>
            <a:r>
              <a:rPr sz="1800" b="1">
                <a:solidFill>
                  <a:srgbClr val="F5FFF8"/>
                </a:solidFill>
              </a:rPr>
              <a:t>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2E6921-EC4F-43EB-A1C8-798FF071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4805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9BBB1"/>
                </a:solidFill>
              </a:defRPr>
            </a:pPr>
            <a:r>
              <a:rPr sz="1275">
                <a:solidFill>
                  <a:srgbClr val="A9BBB1"/>
                </a:solidFill>
              </a:rPr>
              <a:t>Gemini, streaming, chat history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D20245-8800-4C34-B381-12F88529C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4762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D1B16"/>
          </a:solidFill>
          <a:ln xmlns:a="http://schemas.openxmlformats.org/drawingml/2006/main" w="12383">
            <a:solidFill>
              <a:srgbClr val="68FF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5849A3-5046-4C6C-A054-A7529024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FF8"/>
                </a:solidFill>
              </a:defRPr>
            </a:pPr>
            <a:r>
              <a:rPr sz="1800" b="1">
                <a:solidFill>
                  <a:srgbClr val="F5FFF8"/>
                </a:solidFill>
              </a:rPr>
              <a:t>Common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841983-7DCB-40B9-9B9D-46D3A739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4817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9BBB1"/>
                </a:solidFill>
              </a:defRPr>
            </a:pPr>
            <a:r>
              <a:rPr sz="1275">
                <a:solidFill>
                  <a:srgbClr val="A9BBB1"/>
                </a:solidFill>
              </a:rPr>
              <a:t>guards, decorators, interceptors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F3DFE4-3846-4AD1-A02F-4BAF3F6F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67200"/>
            <a:ext cx="47625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0D1B16"/>
          </a:solidFill>
          <a:ln xmlns:a="http://schemas.openxmlformats.org/drawingml/2006/main" w="12383">
            <a:solidFill>
              <a:srgbClr val="33D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473E1F-E581-4468-9A53-618A7B29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1190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FF8"/>
                </a:solidFill>
              </a:defRPr>
            </a:pPr>
            <a:r>
              <a:rPr sz="1800" b="1">
                <a:solidFill>
                  <a:srgbClr val="F5FFF8"/>
                </a:solidFill>
              </a:rPr>
              <a:t>Config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DF5B40-AC6E-4769-80A5-BAFE3510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48175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9BBB1"/>
                </a:solidFill>
              </a:defRPr>
            </a:pPr>
            <a:r>
              <a:rPr sz="1275">
                <a:solidFill>
                  <a:srgbClr val="A9BBB1"/>
                </a:solidFill>
              </a:rPr>
              <a:t>env validation, CORS, Mongo setup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7E601D-82AD-4B0E-AE42-663CBEA6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95950"/>
            <a:ext cx="9677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>
                <a:solidFill>
                  <a:srgbClr val="CFE6D8"/>
                </a:solidFill>
              </a:defRPr>
            </a:pPr>
            <a:r>
              <a:rPr sz="1500">
                <a:solidFill>
                  <a:srgbClr val="CFE6D8"/>
                </a:solidFill>
              </a:rPr>
              <a:t>API prefix: /api/v1  •  MongoDB/Mongoose  •  DTO validation  •  Render-ready health checks</a:t>
            </a:r>
          </a:p>
        </p:txBody>
      </p:sp>
    </p:spTree>
    <p:extLst>
      <p:ext uri="{BB962C8B-B14F-4D97-AF65-F5344CB8AC3E}">
        <p14:creationId xmlns:p14="http://schemas.microsoft.com/office/powerpoint/2010/main" val="5864224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868C2D-81D2-4D0D-B97B-12B26421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0D"/>
              </a:gs>
              <a:gs pos="62000">
                <a:srgbClr val="0B1713"/>
              </a:gs>
              <a:gs pos="100000">
                <a:srgbClr val="11231D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2FC16-1314-49DD-97C5-E3613E43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FF72"/>
                </a:solidFill>
              </a:defRPr>
            </a:pPr>
            <a:r>
              <a:rPr sz="975" b="1">
                <a:solidFill>
                  <a:srgbClr val="68FF72"/>
                </a:solidFill>
              </a:rPr>
              <a:t>AI COACHING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08C68-5E1C-429A-AC57-3E346F6A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FF8"/>
                </a:solidFill>
              </a:defRPr>
            </a:pPr>
            <a:r>
              <a:rPr sz="3000" b="1">
                <a:solidFill>
                  <a:srgbClr val="F5FFF8"/>
                </a:solidFill>
              </a:rPr>
              <a:t>Gemini advice is grounded in the user’s own last 30 days of training.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A689FB-BFA3-4A12-BF16-C23B58A2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9BBB1"/>
                </a:solidFill>
              </a:defRPr>
            </a:pPr>
            <a:r>
              <a:rPr sz="1500">
                <a:solidFill>
                  <a:srgbClr val="A9BBB1"/>
                </a:solidFill>
              </a:rPr>
              <a:t>The coach now gives detailed, structured responses instead of generic one-line suggestions.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568AFD-C588-4CCC-9237-0F048317D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83A092"/>
                </a:solidFill>
              </a:defRPr>
            </a:pPr>
            <a:r>
              <a:rPr sz="975">
                <a:solidFill>
                  <a:srgbClr val="83A092"/>
                </a:solidFill>
              </a:rPr>
              <a:t>FitCoach QPR Recap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3FF04C-6BF2-4600-82A4-9E70FDB3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190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D1B16"/>
          </a:solidFill>
          <a:ln xmlns:a="http://schemas.openxmlformats.org/drawingml/2006/main" w="12383">
            <a:solidFill>
              <a:srgbClr val="68FF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EC9520-B4A6-49F8-89ED-B9C0AD45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00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F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D7703-EC13-4FD9-BFA1-783440893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876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120D"/>
                </a:solidFill>
              </a:defRPr>
            </a:pPr>
            <a:r>
              <a:rPr sz="1425" b="1">
                <a:solidFill>
                  <a:srgbClr val="06120D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103A92-CC16-4A30-A47A-5EEB8FAC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7662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FF8"/>
                </a:solidFill>
              </a:defRPr>
            </a:pPr>
            <a:r>
              <a:rPr sz="1725" b="1">
                <a:solidFill>
                  <a:srgbClr val="F5FFF8"/>
                </a:solidFill>
              </a:rPr>
              <a:t>Fetch workout history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E3E64-1515-4695-B627-A22C25E1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9BBB1"/>
                </a:solidFill>
              </a:defRPr>
            </a:pPr>
            <a:r>
              <a:rPr sz="1200">
                <a:solidFill>
                  <a:srgbClr val="A9BBB1"/>
                </a:solidFill>
              </a:rPr>
              <a:t>Query only the logged-in user’s last 30 days.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8B8D7-6911-4FB1-BB89-F78C9F46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2190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D1B16"/>
          </a:solidFill>
          <a:ln xmlns:a="http://schemas.openxmlformats.org/drawingml/2006/main" w="12383">
            <a:solidFill>
              <a:srgbClr val="FF6B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36008-07A9-41AB-9A5B-6198545A8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00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0215D-A477-414B-8481-B5234F9C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2876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120D"/>
                </a:solidFill>
              </a:defRPr>
            </a:pPr>
            <a:r>
              <a:rPr sz="1425" b="1">
                <a:solidFill>
                  <a:srgbClr val="06120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F117C-49BC-4D80-A072-141BF413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7662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FF8"/>
                </a:solidFill>
              </a:defRPr>
            </a:pPr>
            <a:r>
              <a:rPr sz="1725" b="1">
                <a:solidFill>
                  <a:srgbClr val="F5FFF8"/>
                </a:solidFill>
              </a:rPr>
              <a:t>Build training summary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3EA403-9205-4BA4-9643-F51B0C12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957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9BBB1"/>
                </a:solidFill>
              </a:defRPr>
            </a:pPr>
            <a:r>
              <a:rPr sz="1200">
                <a:solidFill>
                  <a:srgbClr val="A9BBB1"/>
                </a:solidFill>
              </a:rPr>
              <a:t>Summarize volume, frequency, plateaus, and trends.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5EF4B-B0A0-456A-AD37-37964026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71750"/>
            <a:ext cx="2190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D1B16"/>
          </a:solidFill>
          <a:ln xmlns:a="http://schemas.openxmlformats.org/drawingml/2006/main" w="12383">
            <a:solidFill>
              <a:srgbClr val="68FF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73D53-426A-4AE0-847B-3FC94970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0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FF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34F98D-56C4-42CD-A181-6C130735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76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120D"/>
                </a:solidFill>
              </a:defRPr>
            </a:pPr>
            <a:r>
              <a:rPr sz="1425" b="1">
                <a:solidFill>
                  <a:srgbClr val="06120D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E17B8-7956-465F-9839-FE4A0FBC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7662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FF8"/>
                </a:solidFill>
              </a:defRPr>
            </a:pPr>
            <a:r>
              <a:rPr sz="1725" b="1">
                <a:solidFill>
                  <a:srgbClr val="F5FFF8"/>
                </a:solidFill>
              </a:rPr>
              <a:t>Prompt Gemini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F5ADD8-45A7-41EC-9558-34B8710A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957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9BBB1"/>
                </a:solidFill>
              </a:defRPr>
            </a:pPr>
            <a:r>
              <a:rPr sz="1200">
                <a:solidFill>
                  <a:srgbClr val="A9BBB1"/>
                </a:solidFill>
              </a:rPr>
              <a:t>Ask for detailed, actionable coaching with sets/reps/rest.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C38BD-CFA8-4855-B4BE-A66A00507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71750"/>
            <a:ext cx="2190750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0D1B16"/>
          </a:solidFill>
          <a:ln xmlns:a="http://schemas.openxmlformats.org/drawingml/2006/main" w="12383">
            <a:solidFill>
              <a:srgbClr val="FF6B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628686-3A7C-47AC-A4C7-0EF159A5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003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5F4013-2947-477B-8183-8FC885F2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876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120D"/>
                </a:solidFill>
              </a:defRPr>
            </a:pPr>
            <a:r>
              <a:rPr sz="1425" b="1">
                <a:solidFill>
                  <a:srgbClr val="06120D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EB9A96-2700-4C05-B45E-6E4EDA5B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76625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FF8"/>
                </a:solidFill>
              </a:defRPr>
            </a:pPr>
            <a:r>
              <a:rPr sz="1725" b="1">
                <a:solidFill>
                  <a:srgbClr val="F5FFF8"/>
                </a:solidFill>
              </a:rPr>
              <a:t>Stream + persist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00DC2D-2A3B-4595-9D63-78ED0949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0957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9BBB1"/>
                </a:solidFill>
              </a:defRPr>
            </a:pPr>
            <a:r>
              <a:rPr sz="1200">
                <a:solidFill>
                  <a:srgbClr val="A9BBB1"/>
                </a:solidFill>
              </a:rPr>
              <a:t>Stream chunks to mobile and save chat timeline.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4FF38E-CBE6-4758-8695-63BFC1F8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81625"/>
            <a:ext cx="9296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F5FFF8"/>
                </a:solidFill>
              </a:defRPr>
            </a:pPr>
            <a:r>
              <a:rPr sz="1575">
                <a:solidFill>
                  <a:srgbClr val="F5FFF8"/>
                </a:solidFill>
              </a:rPr>
              <a:t>Designed result: coaching that explains what to change, why it matters, and how to apply it in the next 1-2 weeks.</a:t>
            </a:r>
          </a:p>
        </p:txBody>
      </p:sp>
    </p:spTree>
    <p:extLst>
      <p:ext uri="{BB962C8B-B14F-4D97-AF65-F5344CB8AC3E}">
        <p14:creationId xmlns:p14="http://schemas.microsoft.com/office/powerpoint/2010/main" val="13305554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5E09D5-C711-4B69-8B8A-A728FB4F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0D"/>
              </a:gs>
              <a:gs pos="62000">
                <a:srgbClr val="0B1713"/>
              </a:gs>
              <a:gs pos="100000">
                <a:srgbClr val="11231D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5BD88-4232-4FC1-AABC-63D3EEEF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FF72"/>
                </a:solidFill>
              </a:defRPr>
            </a:pPr>
            <a:r>
              <a:rPr sz="975" b="1">
                <a:solidFill>
                  <a:srgbClr val="68FF72"/>
                </a:solidFill>
              </a:rPr>
              <a:t>TECHNOLOGY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4CAC4B-8E9C-4854-9E8A-E546BE51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FF8"/>
                </a:solidFill>
              </a:defRPr>
            </a:pPr>
            <a:r>
              <a:rPr sz="3000" b="1">
                <a:solidFill>
                  <a:srgbClr val="F5FFF8"/>
                </a:solidFill>
              </a:rPr>
              <a:t>A single TypeScript system across mobile, backend, database, and AI.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DC620-FE32-48B0-A686-D19D43BF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9BBB1"/>
                </a:solidFill>
              </a:defRPr>
            </a:pPr>
            <a:r>
              <a:rPr sz="1500">
                <a:solidFill>
                  <a:srgbClr val="A9BBB1"/>
                </a:solidFill>
              </a:rPr>
              <a:t>The stack was selected to match modern mobile/full-stack job requirements.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8B0554-AF4D-4E6E-A857-C6233E8C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83A092"/>
                </a:solidFill>
              </a:defRPr>
            </a:pPr>
            <a:r>
              <a:rPr sz="975">
                <a:solidFill>
                  <a:srgbClr val="83A092"/>
                </a:solidFill>
              </a:rPr>
              <a:t>FitCoach QPR Recap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42ED8-B869-469C-AED1-3B16FE40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48387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0D1B16"/>
          </a:solidFill>
          <a:ln xmlns:a="http://schemas.openxmlformats.org/drawingml/2006/main" w="12383">
            <a:solidFill>
              <a:srgbClr val="68FF7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E35A8B-D435-4A10-B233-981BD3D4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68FF72"/>
                </a:solidFill>
              </a:defRPr>
            </a:pPr>
            <a:r>
              <a:rPr sz="1875" b="1">
                <a:solidFill>
                  <a:srgbClr val="68FF72"/>
                </a:solidFill>
              </a:rPr>
              <a:t>Mobile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C3408-E3AE-4531-A92A-BE223DE9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90825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9BBB1"/>
                </a:solidFill>
              </a:defRPr>
            </a:pPr>
            <a:r>
              <a:rPr sz="1275">
                <a:solidFill>
                  <a:srgbClr val="A9BBB1"/>
                </a:solidFill>
              </a:rPr>
              <a:t>React Native  •  Expo Router  •  TypeScript  •  React Hook Form + Yup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6FBFBB-C21C-4DB3-AF29-6116C135A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190750"/>
            <a:ext cx="48387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0D1B16"/>
          </a:solidFill>
          <a:ln xmlns:a="http://schemas.openxmlformats.org/drawingml/2006/main" w="12383">
            <a:solidFill>
              <a:srgbClr val="FF6B5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F369E2-80AF-4FD6-B11C-D1CDFD04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3622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6B55"/>
                </a:solidFill>
              </a:defRPr>
            </a:pPr>
            <a:r>
              <a:rPr sz="1875" b="1">
                <a:solidFill>
                  <a:srgbClr val="FF6B55"/>
                </a:solidFill>
              </a:rPr>
              <a:t>Data Sync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2E551C-7FEA-42BE-8760-FB2FD1B4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90825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9BBB1"/>
                </a:solidFill>
              </a:defRPr>
            </a:pPr>
            <a:r>
              <a:rPr sz="1275">
                <a:solidFill>
                  <a:srgbClr val="A9BBB1"/>
                </a:solidFill>
              </a:rPr>
              <a:t>TanStack React Query  •  Axios instance  •  SecureStore JWT  •  Typed API layer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7ACCCD-5ABD-43FB-A6F8-E5D09B99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48387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0D1B16"/>
          </a:solidFill>
          <a:ln xmlns:a="http://schemas.openxmlformats.org/drawingml/2006/main" w="12383">
            <a:solidFill>
              <a:srgbClr val="33D6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13B79C-E074-4DA7-ADE1-8E51E8520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33D6FF"/>
                </a:solidFill>
              </a:defRPr>
            </a:pPr>
            <a:r>
              <a:rPr sz="1875" b="1">
                <a:solidFill>
                  <a:srgbClr val="33D6FF"/>
                </a:solidFill>
              </a:rPr>
              <a:t>Backend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EDF74-961B-4C2D-BDDF-F660B187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05325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9BBB1"/>
                </a:solidFill>
              </a:defRPr>
            </a:pPr>
            <a:r>
              <a:rPr sz="1275">
                <a:solidFill>
                  <a:srgbClr val="A9BBB1"/>
                </a:solidFill>
              </a:rPr>
              <a:t>NestJS  •  Mongoose  •  JWT + Passport  •  class-validator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47399-5906-4496-A27C-AB93CBA5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905250"/>
            <a:ext cx="48387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0D1B16"/>
          </a:solidFill>
          <a:ln xmlns:a="http://schemas.openxmlformats.org/drawingml/2006/main" w="12383">
            <a:solidFill>
              <a:srgbClr val="9B7C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47CF4A-DEED-41E0-8BCC-9660760E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767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9B7CFF"/>
                </a:solidFill>
              </a:defRPr>
            </a:pPr>
            <a:r>
              <a:rPr sz="1875" b="1">
                <a:solidFill>
                  <a:srgbClr val="9B7CFF"/>
                </a:solidFill>
              </a:rPr>
              <a:t>AI &amp; Deploy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6D77C8-FC20-4D02-B1AC-166D788A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05325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9BBB1"/>
                </a:solidFill>
              </a:defRPr>
            </a:pPr>
            <a:r>
              <a:rPr sz="1275">
                <a:solidFill>
                  <a:srgbClr val="A9BBB1"/>
                </a:solidFill>
              </a:rPr>
              <a:t>Gemini 2.5 Flash  •  SSE/chunk streaming  •  MongoDB Atlas  •  Render-ready API</a:t>
            </a:r>
          </a:p>
        </p:txBody>
      </p:sp>
    </p:spTree>
    <p:extLst>
      <p:ext uri="{BB962C8B-B14F-4D97-AF65-F5344CB8AC3E}">
        <p14:creationId xmlns:p14="http://schemas.microsoft.com/office/powerpoint/2010/main" val="15416474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0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C86C95-4043-4B70-803B-6BF8F77C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00D"/>
              </a:gs>
              <a:gs pos="62000">
                <a:srgbClr val="0B1713"/>
              </a:gs>
              <a:gs pos="100000">
                <a:srgbClr val="11231D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0398E-F883-4DEB-A55F-E0FA34AD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8FF72"/>
                </a:solidFill>
              </a:defRPr>
            </a:pPr>
            <a:r>
              <a:rPr sz="975" b="1">
                <a:solidFill>
                  <a:srgbClr val="68FF72"/>
                </a:solidFill>
              </a:rPr>
              <a:t>OUTCOME &amp; DEMO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7108AE-FFC6-435E-B6AB-41E83B07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F5FFF8"/>
                </a:solidFill>
              </a:defRPr>
            </a:pPr>
            <a:r>
              <a:rPr sz="3000" b="1">
                <a:solidFill>
                  <a:srgbClr val="F5FFF8"/>
                </a:solidFill>
              </a:rPr>
              <a:t>The assignment is now a full-stack, AI-integrated portfolio project.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1BE64-89F6-4DBF-80C4-71450841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42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9BBB1"/>
                </a:solidFill>
              </a:defRPr>
            </a:pPr>
            <a:r>
              <a:rPr sz="1500">
                <a:solidFill>
                  <a:srgbClr val="A9BBB1"/>
                </a:solidFill>
              </a:rPr>
              <a:t>The walkthrough connects workout logging, progress updates, and AI coaching in one continuous demo.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F501D-33DD-4AA7-9B49-BF44D43F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52450"/>
            <a:ext cx="198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83A092"/>
                </a:solidFill>
              </a:defRPr>
            </a:pPr>
            <a:r>
              <a:rPr sz="975">
                <a:solidFill>
                  <a:srgbClr val="83A092"/>
                </a:solidFill>
              </a:rPr>
              <a:t>FitCoach QPR Recap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848C08-CCC1-40C4-AFE0-E68B207E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19375"/>
            <a:ext cx="4762500" cy="2809875"/>
          </a:xfrm>
          <a:prstGeom xmlns:a="http://schemas.openxmlformats.org/drawingml/2006/main" prst="roundRect">
            <a:avLst>
              <a:gd name="adj" fmla="val 5424"/>
            </a:avLst>
          </a:prstGeom>
          <a:solidFill xmlns:a="http://schemas.openxmlformats.org/drawingml/2006/main">
            <a:srgbClr val="10201A"/>
          </a:solidFill>
          <a:ln xmlns:a="http://schemas.openxmlformats.org/drawingml/2006/main" w="12383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183F0B-BE23-46FD-A8A1-98CE6791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051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68FF72"/>
                </a:solidFill>
              </a:defRPr>
            </a:pPr>
            <a:r>
              <a:rPr sz="2025" b="1">
                <a:solidFill>
                  <a:srgbClr val="68FF72"/>
                </a:solidFill>
              </a:rPr>
              <a:t>Demo path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B7FC4-DFDD-459C-B814-9C3E8B50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52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FF72"/>
          </a:solidFill>
          <a:ln xmlns:a="http://schemas.openxmlformats.org/drawingml/2006/main" w="0">
            <a:solidFill>
              <a:srgbClr val="68FF7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7AB2DA-A561-4C4C-AFF8-151C37EA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76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Login with persisted session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E06719-40C6-41BB-A022-A3013C2F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FF72"/>
          </a:solidFill>
          <a:ln xmlns:a="http://schemas.openxmlformats.org/drawingml/2006/main" w="0">
            <a:solidFill>
              <a:srgbClr val="68FF7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F6682-56E5-4DFE-AD51-26EBF1FC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857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Add a workout with date + exercises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990CF6-022B-43B4-987E-B5ECEE6F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FF72"/>
          </a:solidFill>
          <a:ln xmlns:a="http://schemas.openxmlformats.org/drawingml/2006/main" w="0">
            <a:solidFill>
              <a:srgbClr val="68FF7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876FD-FB65-4322-87B3-4D7D3D5C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38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Dashboard and progress refresh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44312-3C5C-433A-9B80-104CE48C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95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FF72"/>
          </a:solidFill>
          <a:ln xmlns:a="http://schemas.openxmlformats.org/drawingml/2006/main" w="0">
            <a:solidFill>
              <a:srgbClr val="68FF7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FFDDB-F4B0-467B-868C-A86E05EB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Ask AI Coach for detailed advice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AEFE3-C651-4A38-88B7-6762A1B8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76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8FF72"/>
          </a:solidFill>
          <a:ln xmlns:a="http://schemas.openxmlformats.org/drawingml/2006/main" w="0">
            <a:solidFill>
              <a:srgbClr val="68FF7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F654B0-790A-4B2C-9DF8-BE32584C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00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Reload and show saved chat history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C95703-E9F0-4B63-83D2-AE6BB445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19375"/>
            <a:ext cx="4762500" cy="2809875"/>
          </a:xfrm>
          <a:prstGeom xmlns:a="http://schemas.openxmlformats.org/drawingml/2006/main" prst="roundRect">
            <a:avLst>
              <a:gd name="adj" fmla="val 5424"/>
            </a:avLst>
          </a:prstGeom>
          <a:solidFill xmlns:a="http://schemas.openxmlformats.org/drawingml/2006/main">
            <a:srgbClr val="10201A"/>
          </a:solidFill>
          <a:ln xmlns:a="http://schemas.openxmlformats.org/drawingml/2006/main" w="12383">
            <a:solidFill>
              <a:srgbClr val="29413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5A7D39-9A25-4454-A6E5-230FCB7D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051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6B55"/>
                </a:solidFill>
              </a:defRPr>
            </a:pPr>
            <a:r>
              <a:rPr sz="2025" b="1">
                <a:solidFill>
                  <a:srgbClr val="FF6B55"/>
                </a:solidFill>
              </a:rPr>
              <a:t>Next improvements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3C7105-DC20-4123-9D02-4EE7E5A79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52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5"/>
          </a:solidFill>
          <a:ln xmlns:a="http://schemas.openxmlformats.org/drawingml/2006/main" w="0">
            <a:solidFill>
              <a:srgbClr val="FF6B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FA8FE2-7EFF-4423-9F94-0E957A29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76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Offline queue for workout logging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6F968F-0D70-4E3A-AA4B-B6EF2E3F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33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5"/>
          </a:solidFill>
          <a:ln xmlns:a="http://schemas.openxmlformats.org/drawingml/2006/main" w="0">
            <a:solidFill>
              <a:srgbClr val="FF6B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535228-79E5-4DB5-A737-9F779E98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57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Push reminders and streak nudges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3730F5-5D06-4A1A-9B61-B76FF489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314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5"/>
          </a:solidFill>
          <a:ln xmlns:a="http://schemas.openxmlformats.org/drawingml/2006/main" w="0">
            <a:solidFill>
              <a:srgbClr val="FF6B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5801B4-E22A-4EB0-881F-515DF617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38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More automated test coverage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857B2-164F-4086-8465-4218B21E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95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5"/>
          </a:solidFill>
          <a:ln xmlns:a="http://schemas.openxmlformats.org/drawingml/2006/main" w="0">
            <a:solidFill>
              <a:srgbClr val="FF6B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8E850BC-8455-40A1-BEDA-BB39E76B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19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Analytics/report exports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8EE5866-E3B1-4788-B0FD-8F7B224B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76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5"/>
          </a:solidFill>
          <a:ln xmlns:a="http://schemas.openxmlformats.org/drawingml/2006/main" w="0">
            <a:solidFill>
              <a:srgbClr val="FF6B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809C82-811F-41AF-8EB8-17C540C7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0006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F5FFF8"/>
                </a:solidFill>
              </a:defRPr>
            </a:pPr>
            <a:r>
              <a:rPr sz="1500">
                <a:solidFill>
                  <a:srgbClr val="F5FFF8"/>
                </a:solidFill>
              </a:rPr>
              <a:t>Production app-store release flow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3C7F54-18F7-4E53-B14C-13D34DE28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F5FFF8"/>
                </a:solidFill>
              </a:defRPr>
            </a:pPr>
            <a:r>
              <a:rPr sz="1575">
                <a:solidFill>
                  <a:srgbClr val="F5FFF8"/>
                </a:solidFill>
              </a:rPr>
              <a:t>Final value: proves Expo Router navigation, NestJS architecture, typed API integration, React Query sync, and streaming AI in one cohesive product.</a:t>
            </a:r>
          </a:p>
        </p:txBody>
      </p:sp>
    </p:spTree>
    <p:extLst>
      <p:ext uri="{BB962C8B-B14F-4D97-AF65-F5344CB8AC3E}">
        <p14:creationId xmlns:p14="http://schemas.microsoft.com/office/powerpoint/2010/main" val="4504066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2026-07-02T03:44:51.8310000Z</dcterms:created>
  <dcterms:modified xsi:type="dcterms:W3CDTF">2026-07-02T03:44:51.8310000Z</dcterms:modified>
</coreProperties>
</file>